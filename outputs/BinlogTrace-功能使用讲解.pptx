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EEF4FF"/>
          </a:solidFill>
        </p:spPr>
      </p:sp>
      <p:pic>
        <p:nvPicPr>
          <p:cNvPr id="3" name="Image 0" descr="D:/git/php/typephp_dms/outputs/slides/slide01-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1109" y="552450"/>
            <a:ext cx="259973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D6C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功能使用讲解 · Manga Guide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FF3EA"/>
          </a:solidFill>
        </p:spPr>
      </p:sp>
      <p:sp>
        <p:nvSpPr>
          <p:cNvPr id="3" name="Shape 1"/>
          <p:cNvSpPr/>
          <p:nvPr/>
        </p:nvSpPr>
        <p:spPr>
          <a:xfrm>
            <a:off x="571500" y="2571750"/>
            <a:ext cx="6096000" cy="4095750"/>
          </a:xfrm>
          <a:prstGeom prst="roundRect">
            <a:avLst>
              <a:gd name="adj" fmla="val 4186"/>
            </a:avLst>
          </a:prstGeom>
          <a:solidFill>
            <a:srgbClr val="EEF4FF"/>
          </a:solidFill>
          <a:ln w="38100">
            <a:solidFill>
              <a:srgbClr val="2D6C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8500" y="2571750"/>
            <a:ext cx="6096000" cy="4095750"/>
          </a:xfrm>
          <a:prstGeom prst="roundRect">
            <a:avLst>
              <a:gd name="adj" fmla="val 4186"/>
            </a:avLst>
          </a:prstGeom>
          <a:solidFill>
            <a:srgbClr val="FFF3EA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990600"/>
            <a:ext cx="13830300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它解决什么问题？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71500" y="1971675"/>
            <a:ext cx="13830300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线上数据被误删 / 误改后，如何快速定位并安全回滚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95350" y="3257550"/>
            <a:ext cx="599313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D96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😱 传统做法的痛点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95350" y="4019550"/>
            <a:ext cx="5448300" cy="2011561"/>
          </a:xfrm>
          <a:prstGeom prst="rect">
            <a:avLst/>
          </a:prstGeom>
          <a:noFill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396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找不到是谁、何时改了数据</a:t>
            </a:r>
            <a:endParaRPr lang="en-US" sz="1800" dirty="0"/>
          </a:p>
          <a:p>
            <a:pPr marL="133350" indent="-133350" algn="l">
              <a:lnSpc>
                <a:spcPts val="396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手写回滚 SQL 又慢又容易出错</a:t>
            </a:r>
            <a:endParaRPr lang="en-US" sz="1800" dirty="0"/>
          </a:p>
          <a:p>
            <a:pPr marL="133350" indent="-133350" algn="l">
              <a:lnSpc>
                <a:spcPts val="396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binlog 是二进制字节流，肉眼读不动</a:t>
            </a:r>
            <a:endParaRPr lang="en-US" sz="1800" dirty="0"/>
          </a:p>
          <a:p>
            <a:pPr marL="133350" indent="-133350" algn="l">
              <a:lnSpc>
                <a:spcPts val="396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只能停机恢复，影响业务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72350" y="3257550"/>
            <a:ext cx="599313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BinlogTrace 怎么做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372350" y="4019550"/>
            <a:ext cx="5448300" cy="2011561"/>
          </a:xfrm>
          <a:prstGeom prst="rect">
            <a:avLst/>
          </a:prstGeom>
          <a:noFill/>
        </p:spPr>
        <p:txBody>
          <a:bodyPr wrap="square" lIns="133350" tIns="0" rIns="0" bIns="0" rtlCol="0" anchor="t"/>
          <a:lstStyle/>
          <a:p>
            <a:pPr marL="0" indent="0" algn="l">
              <a:lnSpc>
                <a:spcPts val="3960"/>
              </a:lnSpc>
              <a:buSzPct val="100000"/>
              <a:buNone/>
            </a:pP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binlog 变成</a:t>
            </a:r>
            <a:r>
              <a:rPr lang="en-US" sz="1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可读的变更清单</a:t>
            </a:r>
            <a:endParaRPr lang="en-US" sz="1800" dirty="0"/>
          </a:p>
          <a:p>
            <a:pPr marL="133350" indent="-133350" algn="l">
              <a:lnSpc>
                <a:spcPts val="396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schema / 表 / 操作类型筛选</a:t>
            </a:r>
            <a:endParaRPr lang="en-US" sz="1800" dirty="0"/>
          </a:p>
          <a:p>
            <a:pPr marL="133350" indent="-133350" algn="l">
              <a:lnSpc>
                <a:spcPts val="396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一键生成 INSERT↔DELETE / UPDATE 回滚</a:t>
            </a:r>
            <a:endParaRPr lang="en-US" sz="1800" dirty="0"/>
          </a:p>
          <a:p>
            <a:pPr marL="133350" indent="-133350" algn="l">
              <a:lnSpc>
                <a:spcPts val="396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全程浏览器驱动，无需停机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1500" y="7115175"/>
            <a:ext cx="269468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BinlogTrace · MySQL 数据追踪工具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571500" y="2724150"/>
            <a:ext cx="3429000" cy="3429000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38100">
            <a:solidFill>
              <a:srgbClr val="2D6C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12429" y="3048000"/>
            <a:ext cx="946993" cy="704850"/>
          </a:xfrm>
          <a:prstGeom prst="roundRect">
            <a:avLst>
              <a:gd name="adj" fmla="val 16216"/>
            </a:avLst>
          </a:prstGeom>
          <a:solidFill>
            <a:srgbClr val="2D6CDF"/>
          </a:solidFill>
        </p:spPr>
      </p:sp>
      <p:sp>
        <p:nvSpPr>
          <p:cNvPr id="5" name="Shape 3"/>
          <p:cNvSpPr/>
          <p:nvPr/>
        </p:nvSpPr>
        <p:spPr>
          <a:xfrm>
            <a:off x="5143500" y="2724150"/>
            <a:ext cx="3429000" cy="3429000"/>
          </a:xfrm>
          <a:prstGeom prst="roundRect">
            <a:avLst>
              <a:gd name="adj" fmla="val 5000"/>
            </a:avLst>
          </a:prstGeom>
          <a:solidFill>
            <a:srgbClr val="FFF3EA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4429" y="3048000"/>
            <a:ext cx="946993" cy="704850"/>
          </a:xfrm>
          <a:prstGeom prst="roundRect">
            <a:avLst>
              <a:gd name="adj" fmla="val 16216"/>
            </a:avLst>
          </a:prstGeom>
          <a:solidFill>
            <a:srgbClr val="FF8A3D"/>
          </a:solidFill>
        </p:spPr>
      </p:sp>
      <p:sp>
        <p:nvSpPr>
          <p:cNvPr id="7" name="Shape 5"/>
          <p:cNvSpPr/>
          <p:nvPr/>
        </p:nvSpPr>
        <p:spPr>
          <a:xfrm>
            <a:off x="9715500" y="2724150"/>
            <a:ext cx="3429000" cy="3429000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38100">
            <a:solidFill>
              <a:srgbClr val="2D6C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6429" y="3048000"/>
            <a:ext cx="946993" cy="704850"/>
          </a:xfrm>
          <a:prstGeom prst="roundRect">
            <a:avLst>
              <a:gd name="adj" fmla="val 16216"/>
            </a:avLst>
          </a:prstGeom>
          <a:solidFill>
            <a:srgbClr val="2D6CDF"/>
          </a:solidFill>
        </p:spPr>
      </p:sp>
      <p:sp>
        <p:nvSpPr>
          <p:cNvPr id="9" name="Text 7"/>
          <p:cNvSpPr/>
          <p:nvPr/>
        </p:nvSpPr>
        <p:spPr>
          <a:xfrm>
            <a:off x="571500" y="990600"/>
            <a:ext cx="13830300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三步上手：连接 → 追踪 → 回滚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71500" y="1971675"/>
            <a:ext cx="13830300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全程浏览器驱动，Agent 在后台解析 binlog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948774" y="3276600"/>
            <a:ext cx="67430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6285" y="4210050"/>
            <a:ext cx="305943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连接 MySQL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56285" y="4876800"/>
            <a:ext cx="3059430" cy="828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填写连接信息，自动校验 binlog 配置是否满足追踪条件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286250" y="4062412"/>
            <a:ext cx="600075" cy="752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0"/>
              </a:spcBef>
              <a:spcAft>
                <a:spcPts val="4500"/>
              </a:spcAft>
              <a:buNone/>
            </a:pPr>
            <a:r>
              <a:rPr lang="en-US" sz="4500" b="1" dirty="0">
                <a:solidFill>
                  <a:srgbClr val="FF8A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6520774" y="3276600"/>
            <a:ext cx="67430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28285" y="4210050"/>
            <a:ext cx="305943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D96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实时追踪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328285" y="4876800"/>
            <a:ext cx="3059430" cy="552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发起 binlog dump，SSE 实时推送行级变更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858250" y="4062412"/>
            <a:ext cx="600075" cy="752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0"/>
              </a:spcBef>
              <a:spcAft>
                <a:spcPts val="4500"/>
              </a:spcAft>
              <a:buNone/>
            </a:pPr>
            <a:r>
              <a:rPr lang="en-US" sz="4500" b="1" dirty="0">
                <a:solidFill>
                  <a:srgbClr val="FF8A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11092774" y="3276600"/>
            <a:ext cx="67430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00285" y="4210050"/>
            <a:ext cx="305943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生成回滚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900285" y="4876800"/>
            <a:ext cx="3059430" cy="552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选中变更，按 xid 分组生成回滚 SQL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71500" y="7115175"/>
            <a:ext cx="4444097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真实模式：前端 HTTP+SSE ↔ Agent（纯 PHP）↔ MySQL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-133350" y="-266700"/>
            <a:ext cx="685800" cy="685800"/>
          </a:xfrm>
          <a:prstGeom prst="roundRect">
            <a:avLst>
              <a:gd name="adj" fmla="val 133333"/>
            </a:avLst>
          </a:prstGeom>
          <a:solidFill>
            <a:srgbClr val="FF8A3D"/>
          </a:solidFill>
          <a:ln w="3810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20707" y="4962525"/>
            <a:ext cx="5823793" cy="1400175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</p:spPr>
      </p:sp>
      <p:pic>
        <p:nvPicPr>
          <p:cNvPr id="5" name="Image 0" descr="D:/git/php/typephp_dms/outputs/slides/01-connect-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76425"/>
            <a:ext cx="6482507" cy="3102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110490" y="95250"/>
            <a:ext cx="64008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895350"/>
            <a:ext cx="13306425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连接 MySQL：填好信息，一键检查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320707" y="2200275"/>
            <a:ext cx="6406173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关键操作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7320707" y="2952750"/>
            <a:ext cx="5823793" cy="1781175"/>
          </a:xfrm>
          <a:prstGeom prst="rect">
            <a:avLst/>
          </a:prstGeom>
          <a:noFill/>
        </p:spPr>
        <p:txBody>
          <a:bodyPr wrap="square" lIns="123825" tIns="0" rIns="0" bIns="0" rtlCol="0" anchor="t"/>
          <a:lstStyle/>
          <a:p>
            <a:pPr marL="0" indent="0" algn="l">
              <a:lnSpc>
                <a:spcPts val="3450"/>
              </a:lnSpc>
              <a:buSzPct val="100000"/>
              <a:buNone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</a:t>
            </a:r>
            <a:r>
              <a:rPr lang="en-US" sz="1725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主机 / 端口 / 账号 / 密码 / 数据库</a:t>
            </a:r>
            <a:endParaRPr lang="en-US" sz="1725" dirty="0"/>
          </a:p>
          <a:p>
            <a:pPr marL="0" indent="0" algn="l">
              <a:lnSpc>
                <a:spcPts val="3450"/>
              </a:lnSpc>
              <a:buSzPct val="100000"/>
              <a:buNone/>
            </a:pPr>
            <a:r>
              <a:rPr lang="zh-CN" alt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代理地址</a:t>
            </a: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设置  默认 </a:t>
            </a:r>
            <a:r>
              <a:rPr lang="en-US" sz="1725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http://127.0.0.1:8080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真实模式由 Agent 采集 binlog 元数据</a:t>
            </a:r>
            <a:endParaRPr lang="en-US" sz="1725" dirty="0"/>
          </a:p>
          <a:p>
            <a:pPr marL="0" indent="0" algn="l">
              <a:lnSpc>
                <a:spcPts val="3450"/>
              </a:lnSpc>
              <a:buSzPct val="100000"/>
              <a:buNone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演示模式调用 </a:t>
            </a:r>
            <a:r>
              <a:rPr lang="en-US" sz="1725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checkBinlogCfg</a:t>
            </a: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校验配置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7568357" y="5381625"/>
            <a:ext cx="5861343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D96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✔ 连接成功后会返回 binlog 文件名、位置、GTID 等元数据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71500" y="7115175"/>
            <a:ext cx="146243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页面路径：/ 连接页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-133350" y="-266700"/>
            <a:ext cx="685800" cy="685800"/>
          </a:xfrm>
          <a:prstGeom prst="roundRect">
            <a:avLst>
              <a:gd name="adj" fmla="val 133333"/>
            </a:avLst>
          </a:prstGeom>
          <a:solidFill>
            <a:srgbClr val="FF8A3D"/>
          </a:solidFill>
          <a:ln w="3810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20707" y="4953000"/>
            <a:ext cx="5823793" cy="1400175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38100">
            <a:solidFill>
              <a:srgbClr val="2D6CDF"/>
            </a:solidFill>
            <a:prstDash val="solid"/>
          </a:ln>
        </p:spPr>
      </p:sp>
      <p:pic>
        <p:nvPicPr>
          <p:cNvPr id="5" name="Image 0" descr="D:/git/php/typephp_dms/outputs/slides/02-trace-confi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76425"/>
            <a:ext cx="6482507" cy="3102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110490" y="95250"/>
            <a:ext cx="64008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895350"/>
            <a:ext cx="13306425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配置追踪：选择范围，发起 dump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320707" y="2200275"/>
            <a:ext cx="6406173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追踪参数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7320707" y="2952750"/>
            <a:ext cx="5823793" cy="1771650"/>
          </a:xfrm>
          <a:prstGeom prst="rect">
            <a:avLst/>
          </a:prstGeom>
          <a:noFill/>
        </p:spPr>
        <p:txBody>
          <a:bodyPr wrap="square" lIns="123825" tIns="0" rIns="0" bIns="0" rtlCol="0" anchor="t"/>
          <a:lstStyle/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可选库表与操作类型过滤</a:t>
            </a:r>
            <a:endParaRPr lang="en-US" sz="1725" dirty="0"/>
          </a:p>
          <a:p>
            <a:pPr marL="0" indent="0" algn="l">
              <a:lnSpc>
                <a:spcPts val="3450"/>
              </a:lnSpc>
              <a:buSzPct val="100000"/>
              <a:buNone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</a:t>
            </a:r>
            <a:r>
              <a:rPr lang="en-US" sz="1725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历史点定位</a:t>
            </a: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：携带 </a:t>
            </a:r>
            <a:r>
              <a:rPr lang="en-US" sz="1725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startMs</a:t>
            </a: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/ </a:t>
            </a:r>
            <a:r>
              <a:rPr lang="en-US" sz="1725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endMs</a:t>
            </a: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时间窗口</a:t>
            </a:r>
            <a:endParaRPr lang="en-US" sz="1725" dirty="0"/>
          </a:p>
          <a:p>
            <a:pPr marL="0" indent="0" algn="l">
              <a:lnSpc>
                <a:spcPts val="3450"/>
              </a:lnSpc>
              <a:buSzPct val="100000"/>
              <a:buNone/>
            </a:pPr>
            <a:r>
              <a:rPr lang="en-US" sz="1725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 /dump</a:t>
            </a: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发起 binlog dump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派生 krowinski 子进程逐行解析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7568357" y="5372100"/>
            <a:ext cx="5861343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时间窗口内外的变更会被自动过滤，只留下你关心的数据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71500" y="7115175"/>
            <a:ext cx="186073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页面路径：/trace 追踪页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-133350" y="-266700"/>
            <a:ext cx="685800" cy="685800"/>
          </a:xfrm>
          <a:prstGeom prst="roundRect">
            <a:avLst>
              <a:gd name="adj" fmla="val 133333"/>
            </a:avLst>
          </a:prstGeom>
          <a:solidFill>
            <a:srgbClr val="FF8A3D"/>
          </a:solidFill>
          <a:ln w="3810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20707" y="4933950"/>
            <a:ext cx="5823793" cy="1390650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</p:spPr>
      </p:sp>
      <p:pic>
        <p:nvPicPr>
          <p:cNvPr id="5" name="Image 0" descr="D:/git/php/typephp_dms/outputs/slides/03-result-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76425"/>
            <a:ext cx="6482507" cy="3102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110490" y="95250"/>
            <a:ext cx="64008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895350"/>
            <a:ext cx="13306425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查看结果：变更清单一目了然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320707" y="2200275"/>
            <a:ext cx="6406173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结果页能力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7320707" y="2952750"/>
            <a:ext cx="5823793" cy="1752600"/>
          </a:xfrm>
          <a:prstGeom prst="rect">
            <a:avLst/>
          </a:prstGeom>
          <a:noFill/>
        </p:spPr>
        <p:txBody>
          <a:bodyPr wrap="square" lIns="123825" tIns="0" rIns="0" bIns="0" rtlCol="0" anchor="t"/>
          <a:lstStyle/>
          <a:p>
            <a:pPr marL="0" indent="0" algn="l">
              <a:lnSpc>
                <a:spcPts val="3450"/>
              </a:lnSpc>
              <a:buSzPct val="100000"/>
              <a:buNone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所有解码变更以</a:t>
            </a:r>
            <a:r>
              <a:rPr lang="en-US" sz="1725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列表</a:t>
            </a: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展示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支持按 schema / 表 / 操作类型筛选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实时流式追加，边追踪边看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点击单条查看前后值 diff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7568357" y="5353050"/>
            <a:ext cx="5861343" cy="552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D96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每条记录含 kind / schema / table / xid / 时间戳与 binlog 位点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71500" y="7115175"/>
            <a:ext cx="237708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页面路径：/trace/result 结果页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7320707" y="2438400"/>
            <a:ext cx="5823793" cy="3476625"/>
          </a:xfrm>
          <a:prstGeom prst="roundRect">
            <a:avLst>
              <a:gd name="adj" fmla="val 4932"/>
            </a:avLst>
          </a:prstGeom>
          <a:solidFill>
            <a:srgbClr val="EEF4FF"/>
          </a:solidFill>
          <a:ln w="38100">
            <a:solidFill>
              <a:srgbClr val="2D6CDF"/>
            </a:solidFill>
            <a:prstDash val="solid"/>
          </a:ln>
        </p:spPr>
      </p:sp>
      <p:pic>
        <p:nvPicPr>
          <p:cNvPr id="4" name="Image 0" descr="D:/git/php/typephp_dms/outputs/slides/04-change-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438400"/>
            <a:ext cx="6482507" cy="31024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895350"/>
            <a:ext cx="13830300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读懂一次变更：前后值 diff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71500" y="1876425"/>
            <a:ext cx="13830300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字段级对比，让你看清数据到底改了什么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644557" y="3086100"/>
            <a:ext cx="5693703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DIFF 视图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644557" y="3838575"/>
            <a:ext cx="5176093" cy="1752600"/>
          </a:xfrm>
          <a:prstGeom prst="rect">
            <a:avLst/>
          </a:prstGeom>
          <a:noFill/>
        </p:spPr>
        <p:txBody>
          <a:bodyPr wrap="square" lIns="123825" tIns="0" rIns="0" bIns="0" rtlCol="0" anchor="t"/>
          <a:lstStyle/>
          <a:p>
            <a:pPr marL="0" indent="0" algn="l">
              <a:lnSpc>
                <a:spcPts val="3450"/>
              </a:lnSpc>
              <a:buSzPct val="100000"/>
              <a:buNone/>
            </a:pPr>
            <a:r>
              <a:rPr lang="en-US" sz="1725" b="1" dirty="0">
                <a:solidFill>
                  <a:srgbClr val="D96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before</a:t>
            </a: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</a:t>
            </a:r>
            <a:r>
              <a:rPr lang="en-US" sz="1725" b="1" dirty="0">
                <a:solidFill>
                  <a:srgbClr val="2D6C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after</a:t>
            </a: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逐字段对照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变化字段高亮提示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主键 / 唯一键明确标注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 BLOB（base64）与 BIGINT 原始值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571500" y="7115175"/>
            <a:ext cx="244616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点击结果页任意一条 → 变更详情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7320707" y="1876425"/>
            <a:ext cx="5823793" cy="3095625"/>
          </a:xfrm>
          <a:prstGeom prst="roundRect">
            <a:avLst>
              <a:gd name="adj" fmla="val 5538"/>
            </a:avLst>
          </a:prstGeom>
          <a:solidFill>
            <a:srgbClr val="FFF3EA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20707" y="5181600"/>
            <a:ext cx="5823793" cy="1114425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38100">
            <a:solidFill>
              <a:srgbClr val="2D6CDF"/>
            </a:solidFill>
            <a:prstDash val="solid"/>
          </a:ln>
        </p:spPr>
      </p:sp>
      <p:pic>
        <p:nvPicPr>
          <p:cNvPr id="5" name="Image 0" descr="D:/git/php/typephp_dms/outputs/slides/05-row-rollb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76425"/>
            <a:ext cx="6482507" cy="3102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895350"/>
            <a:ext cx="13830300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单行回滚：一条变更，反转为 SQL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7644557" y="2524125"/>
            <a:ext cx="5693703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D96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回滚规则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644557" y="3276600"/>
            <a:ext cx="5176093" cy="1371600"/>
          </a:xfrm>
          <a:prstGeom prst="rect">
            <a:avLst/>
          </a:prstGeom>
          <a:noFill/>
        </p:spPr>
        <p:txBody>
          <a:bodyPr wrap="square" lIns="123825" tIns="0" rIns="0" bIns="0" rtlCol="0" anchor="t"/>
          <a:lstStyle/>
          <a:p>
            <a:pPr marL="0" indent="0" algn="l">
              <a:lnSpc>
                <a:spcPts val="3600"/>
              </a:lnSpc>
              <a:buSzPct val="100000"/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INSERT</a:t>
            </a: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生成 </a:t>
            </a:r>
            <a:r>
              <a:rPr lang="en-US" sz="1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DELETE</a:t>
            </a:r>
            <a:endParaRPr lang="en-US" sz="1800" dirty="0"/>
          </a:p>
          <a:p>
            <a:pPr marL="0" indent="0" algn="l">
              <a:lnSpc>
                <a:spcPts val="3600"/>
              </a:lnSpc>
              <a:buSzPct val="100000"/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DELETE</a:t>
            </a: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生成 </a:t>
            </a:r>
            <a:r>
              <a:rPr lang="en-US" sz="1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INSERT</a:t>
            </a:r>
            <a:endParaRPr lang="en-US" sz="1800" dirty="0"/>
          </a:p>
          <a:p>
            <a:pPr marL="0" indent="0" algn="l">
              <a:lnSpc>
                <a:spcPts val="3600"/>
              </a:lnSpc>
              <a:buSzPct val="100000"/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UPDATE</a:t>
            </a:r>
            <a:r>
              <a:rPr lang="en-US" sz="1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交换 before/after 的 UPDATE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68357" y="5600700"/>
            <a:ext cx="5861343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一键复制 / 执行，单条误操作也能精准补救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71500" y="7115175"/>
            <a:ext cx="209255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页面路径：/rollback 回滚页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8872389" y="1838325"/>
            <a:ext cx="4272111" cy="3143250"/>
          </a:xfrm>
          <a:prstGeom prst="roundRect">
            <a:avLst>
              <a:gd name="adj" fmla="val 5455"/>
            </a:avLst>
          </a:prstGeom>
          <a:solidFill>
            <a:srgbClr val="EEF4FF"/>
          </a:solidFill>
          <a:ln w="38100">
            <a:solidFill>
              <a:srgbClr val="2D6CDF"/>
            </a:solidFill>
            <a:prstDash val="solid"/>
          </a:ln>
        </p:spPr>
      </p:sp>
      <p:pic>
        <p:nvPicPr>
          <p:cNvPr id="4" name="Image 0" descr="D:/git/php/typephp_dms/outputs/slides/06-multi-sele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38325"/>
            <a:ext cx="3959870" cy="1910804"/>
          </a:xfrm>
          <a:prstGeom prst="rect">
            <a:avLst/>
          </a:prstGeom>
        </p:spPr>
      </p:pic>
      <p:pic>
        <p:nvPicPr>
          <p:cNvPr id="5" name="Image 1" descr="D:/git/php/typephp_dms/outputs/slides/07-multi-ro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870" y="1838325"/>
            <a:ext cx="3960019" cy="19108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857250"/>
            <a:ext cx="13830300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多选批量回滚：一次搞定整笔事务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377317" y="3996779"/>
            <a:ext cx="4272037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勾选多条变更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527679" y="3996779"/>
            <a:ext cx="4272201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批量生成回滚 SQL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177189" y="2466975"/>
            <a:ext cx="4028762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分组与排序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9177189" y="3219450"/>
            <a:ext cx="3662511" cy="1676400"/>
          </a:xfrm>
          <a:prstGeom prst="rect">
            <a:avLst/>
          </a:prstGeom>
          <a:noFill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3300"/>
              </a:lnSpc>
              <a:buSzPct val="100000"/>
              <a:buNone/>
            </a:pPr>
            <a:r>
              <a:rPr lang="en-US" sz="16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</a:t>
            </a:r>
            <a:r>
              <a:rPr lang="en-US" sz="16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xid</a:t>
            </a:r>
            <a:r>
              <a:rPr lang="en-US" sz="16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事务分组</a:t>
            </a:r>
            <a:endParaRPr lang="en-US" sz="1650" dirty="0"/>
          </a:p>
          <a:p>
            <a:pPr marL="0" indent="0" algn="l">
              <a:lnSpc>
                <a:spcPts val="3300"/>
              </a:lnSpc>
              <a:buSzPct val="100000"/>
              <a:buNone/>
            </a:pPr>
            <a:r>
              <a:rPr lang="en-US" sz="16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</a:t>
            </a:r>
            <a:r>
              <a:rPr lang="en-US" sz="16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timestamp</a:t>
            </a:r>
            <a:r>
              <a:rPr lang="en-US" sz="16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排序</a:t>
            </a:r>
            <a:endParaRPr lang="en-US" sz="1650" dirty="0"/>
          </a:p>
          <a:p>
            <a:pPr marL="114300" indent="-114300" algn="l">
              <a:lnSpc>
                <a:spcPts val="3300"/>
              </a:lnSpc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保持事务内操作顺序</a:t>
            </a:r>
            <a:endParaRPr lang="en-US" sz="1650" dirty="0"/>
          </a:p>
          <a:p>
            <a:pPr marL="114300" indent="-114300" algn="l">
              <a:lnSpc>
                <a:spcPts val="3300"/>
              </a:lnSpc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适合整笔误操作的恢复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71500" y="7115175"/>
            <a:ext cx="309839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页面路径：/rollback 回滚页（多选模式）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7320707" y="1876425"/>
            <a:ext cx="5823793" cy="3476625"/>
          </a:xfrm>
          <a:prstGeom prst="roundRect">
            <a:avLst>
              <a:gd name="adj" fmla="val 4932"/>
            </a:avLst>
          </a:prstGeom>
          <a:solidFill>
            <a:srgbClr val="EEF4FF"/>
          </a:solidFill>
          <a:ln w="38100">
            <a:solidFill>
              <a:srgbClr val="2D6CDF"/>
            </a:solidFill>
            <a:prstDash val="solid"/>
          </a:ln>
        </p:spPr>
      </p:sp>
      <p:pic>
        <p:nvPicPr>
          <p:cNvPr id="4" name="Image 0" descr="D:/git/php/typephp_dms/outputs/slides/08-independent-rollb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76425"/>
            <a:ext cx="6482507" cy="31024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895350"/>
            <a:ext cx="13830300" cy="56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灵活独立回滚：任意勾选，不止于整笔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644557" y="2524125"/>
            <a:ext cx="5693703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1B4F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为什么需要独立回滚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7644557" y="3276600"/>
            <a:ext cx="5176093" cy="1752600"/>
          </a:xfrm>
          <a:prstGeom prst="rect">
            <a:avLst/>
          </a:prstGeom>
          <a:noFill/>
        </p:spPr>
        <p:txBody>
          <a:bodyPr wrap="square" lIns="123825" tIns="0" rIns="0" bIns="0" rtlCol="0" anchor="t"/>
          <a:lstStyle/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跨事务挑选若干条变更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无需回滚整笔，只还原需要的部分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每条独立生成对应回滚 SQL</a:t>
            </a:r>
            <a:endParaRPr lang="en-US" sz="1725" dirty="0"/>
          </a:p>
          <a:p>
            <a:pPr marL="123825" indent="-123825" algn="l">
              <a:lnSpc>
                <a:spcPts val="3450"/>
              </a:lnSpc>
              <a:buSzPct val="100000"/>
              <a:buChar char="•"/>
            </a:pPr>
            <a:r>
              <a:rPr lang="en-US" sz="172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精细控制，避免误伤正常数据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571500" y="7115175"/>
            <a:ext cx="209255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页面路径：/rollback 回滚页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EEF4FF"/>
          </a:solidFill>
        </p:spPr>
      </p:sp>
      <p:pic>
        <p:nvPicPr>
          <p:cNvPr id="3" name="Image 0" descr="D:/git/php/typephp_dms/outputs/slides/slide11-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0" cy="7715250"/>
          </a:xfrm>
          <a:prstGeom prst="rect">
            <a:avLst/>
          </a:prstGeom>
          <a:solidFill>
            <a:srgbClr val="EEF4FF"/>
          </a:solidFill>
        </p:spPr>
      </p:sp>
      <p:pic>
        <p:nvPicPr>
          <p:cNvPr id="3" name="Image 0" descr="D:/git/php/typephp_dms/outputs/slides/slide12-e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70736" y="7134225"/>
            <a:ext cx="371198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BinlogTrace · 连接 → 追踪 → 看变更 → 一键回滚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1418</Words>
  <Application>WPS 演示</Application>
  <PresentationFormat>On-screen Show (16:9)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</vt:lpstr>
      <vt:lpstr>monospace</vt:lpstr>
      <vt:lpstr>FFont-Family</vt:lpstr>
      <vt:lpstr>monospace</vt:lpstr>
      <vt:lpstr>monospace</vt:lpstr>
      <vt:lpstr>Calibri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杨维杰</cp:lastModifiedBy>
  <cp:revision>2</cp:revision>
  <dcterms:created xsi:type="dcterms:W3CDTF">2026-08-27T03:17:00Z</dcterms:created>
  <dcterms:modified xsi:type="dcterms:W3CDTF">2026-08-27T03:21:08Z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821C6EF2A09540C4B92E568738BE7DDF_12</vt:lpwstr>
  </property>
  <property fmtid="{D5CDD505-2E9C-101B-9397-08002B2CF9AE}" pid="3" name="KSOProductBuildVer">
    <vt:lpwstr>2052-12.1.0.28043</vt:lpwstr>
  </property>
</Properties>
</file>