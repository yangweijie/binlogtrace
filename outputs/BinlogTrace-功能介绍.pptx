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54864"/>
          </a:xfrm>
          <a:prstGeom prst="rect">
            <a:avLst/>
          </a:prstGeom>
          <a:solidFill>
            <a:srgbClr val="F0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5000" b="1">
                <a:solidFill>
                  <a:srgbClr val="FFFFFF"/>
                </a:solidFill>
                <a:latin typeface="Calibri"/>
                <a:ea typeface="Microsoft YaHei"/>
              </a:rPr>
              <a:t>BinlogTrace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2200" b="0">
                <a:solidFill>
                  <a:srgbClr val="7AC7E3"/>
                </a:solidFill>
                <a:latin typeface="Calibri"/>
                <a:ea typeface="Microsoft YaHei"/>
              </a:rPr>
              <a:t>MySQL 数据追踪与回滚脚本生成工具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0352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200" b="0">
                <a:solidFill>
                  <a:srgbClr val="7AC7E3"/>
                </a:solidFill>
                <a:latin typeface="Calibri"/>
                <a:ea typeface="Microsoft YaHei"/>
              </a:rPr>
              <a:t>基于 binlog 实时追踪变更 / 一键生成回滚 SQL / 双引擎架构（Workerman + TypePHP）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  <a:ea typeface="Microsoft YaHei"/>
              </a:rPr>
              <a:t>核心功能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27432"/>
          </a:xfrm>
          <a:prstGeom prst="rect">
            <a:avLst/>
          </a:prstGeom>
          <a:solidFill>
            <a:srgbClr val="F0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  <a:ea typeface="Microsoft YaHei"/>
              </a:rPr>
              <a:t>连接配置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554480"/>
            <a:ext cx="7589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  <a:ea typeface="Microsoft YaHei"/>
              </a:rPr>
              <a:t>真实 MySQL / 演示模式切换，测试连接 + 权限预检（SELECT / REPLICATION）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40864"/>
            <a:ext cx="45720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40864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40864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  <a:ea typeface="Microsoft YaHei"/>
              </a:rPr>
              <a:t>追踪工单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340864"/>
            <a:ext cx="7589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  <a:ea typeface="Microsoft YaHei"/>
              </a:rPr>
              <a:t>选库/表 + 时间窗口 + INSERT/UPDATE/DELETE 类型筛选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27248"/>
            <a:ext cx="45720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2724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27248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  <a:ea typeface="Microsoft YaHei"/>
              </a:rPr>
              <a:t>变更列表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127248"/>
            <a:ext cx="7589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  <a:ea typeface="Microsoft YaHei"/>
              </a:rPr>
              <a:t>类型、库.表、主键、变更列一目了然，分页浏览 100 条/页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13632"/>
            <a:ext cx="45720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913632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  <a:ea typeface="Microsoft YaHei"/>
              </a:rPr>
              <a:t>变更明细·差异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913632"/>
            <a:ext cx="7589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  <a:ea typeface="Microsoft YaHei"/>
              </a:rPr>
              <a:t>列名 / 旧值 / 新值 字段级对比，清晰定位变化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700016"/>
            <a:ext cx="45720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00016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700016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  <a:ea typeface="Microsoft YaHei"/>
              </a:rPr>
              <a:t>回滚脚本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700016"/>
            <a:ext cx="7589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  <a:ea typeface="Microsoft YaHei"/>
              </a:rPr>
              <a:t>单行「生成该行回滚」+ 多选「生成回滚脚本」，支持独立/整体事务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486400"/>
            <a:ext cx="45720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4864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Microsoft YaHe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48640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  <a:ea typeface="Microsoft YaHei"/>
              </a:rPr>
              <a:t>双引擎架构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486400"/>
            <a:ext cx="7589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  <a:ea typeface="Microsoft YaHei"/>
              </a:rPr>
              <a:t>agent-workerman（纯 PHP）与 agent（TypePHP 编译版）可对比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  <a:ea typeface="Microsoft YaHei"/>
              </a:rPr>
              <a:t>使用流程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27432"/>
          </a:xfrm>
          <a:prstGeom prst="rect">
            <a:avLst/>
          </a:prstGeom>
          <a:solidFill>
            <a:srgbClr val="F0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-connect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120640" cy="4937760"/>
          </a:xfrm>
          <a:prstGeom prst="rect">
            <a:avLst/>
          </a:prstGeom>
        </p:spPr>
      </p:pic>
      <p:pic>
        <p:nvPicPr>
          <p:cNvPr id="6" name="Picture 5" descr="02-trace-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463040"/>
            <a:ext cx="557784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5508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  <a:ea typeface="Microsoft YaHei"/>
              </a:rPr>
              <a:t>① 连接配置页：选库/类型 + 测试连接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55080"/>
            <a:ext cx="5577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  <a:ea typeface="Microsoft YaHei"/>
              </a:rPr>
              <a:t>② 追踪工单：选库 + 时间窗口 + 类型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  <a:ea typeface="Microsoft YaHei"/>
              </a:rPr>
              <a:t>变更列表 · 真实数据展示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27432"/>
          </a:xfrm>
          <a:prstGeom prst="rect">
            <a:avLst/>
          </a:prstGeom>
          <a:solidFill>
            <a:srgbClr val="F0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-result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728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  <a:ea typeface="Microsoft YaHei"/>
              </a:rPr>
              <a:t>库.表显示真实表名（shop.orders / shop.payments / shop.users）· 主键有值（id=1000）· 已拉取大量变更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  <a:ea typeface="Microsoft YaHei"/>
              </a:rPr>
              <a:t>变更明细 · 字段级差异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27432"/>
          </a:xfrm>
          <a:prstGeom prst="rect">
            <a:avLst/>
          </a:prstGeom>
          <a:solidFill>
            <a:srgbClr val="F0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-chang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2179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09360"/>
            <a:ext cx="6217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  <a:ea typeface="Microsoft YaHei"/>
              </a:rPr>
              <a:t>列名 / 旧值 / 新值 对比表格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645920"/>
            <a:ext cx="365760" cy="365760"/>
          </a:xfrm>
          <a:prstGeom prst="rect">
            <a:avLst/>
          </a:prstGeom>
          <a:solidFill>
            <a:srgbClr val="F0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64592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Microsoft YaHe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645920"/>
            <a:ext cx="39319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  <a:ea typeface="Microsoft YaHei"/>
              </a:rPr>
              <a:t>主键定位：id=1001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2423160"/>
            <a:ext cx="365760" cy="365760"/>
          </a:xfrm>
          <a:prstGeom prst="rect">
            <a:avLst/>
          </a:prstGeom>
          <a:solidFill>
            <a:srgbClr val="F0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242316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Microsoft YaHe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423160"/>
            <a:ext cx="39319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  <a:ea typeface="Microsoft YaHei"/>
              </a:rPr>
              <a:t>UPDATE 展示旧/新值：amount 69.47 → 169.47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3200400"/>
            <a:ext cx="365760" cy="365760"/>
          </a:xfrm>
          <a:prstGeom prst="rect">
            <a:avLst/>
          </a:prstGeom>
          <a:solidFill>
            <a:srgbClr val="F0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320040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Microsoft YaHe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200400"/>
            <a:ext cx="39319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  <a:ea typeface="Microsoft YaHei"/>
              </a:rPr>
              <a:t>支持「生成该行回滚」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3977639"/>
            <a:ext cx="365760" cy="365760"/>
          </a:xfrm>
          <a:prstGeom prst="rect">
            <a:avLst/>
          </a:prstGeom>
          <a:solidFill>
            <a:srgbClr val="F0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3977639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Microsoft YaHe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977639"/>
            <a:ext cx="39319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  <a:ea typeface="Microsoft YaHei"/>
              </a:rPr>
              <a:t>事务号、binlog 位置标注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  <a:ea typeface="Microsoft YaHei"/>
              </a:rPr>
              <a:t>回滚脚本 · 单行 / 独立事务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27432"/>
          </a:xfrm>
          <a:prstGeom prst="rect">
            <a:avLst/>
          </a:prstGeom>
          <a:solidFill>
            <a:srgbClr val="F0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-row-roll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852160" cy="5029200"/>
          </a:xfrm>
          <a:prstGeom prst="rect">
            <a:avLst/>
          </a:prstGeom>
        </p:spPr>
      </p:pic>
      <p:pic>
        <p:nvPicPr>
          <p:cNvPr id="6" name="Picture 5" descr="08-independent-roll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71600"/>
            <a:ext cx="502920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09360"/>
            <a:ext cx="5852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  <a:ea typeface="Microsoft YaHei"/>
              </a:rPr>
              <a:t>单行回滚 SQL 预览（含注释、源操作、WHERE 定位）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63093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  <a:ea typeface="Microsoft YaHei"/>
              </a:rPr>
              <a:t>独立回滚：每条变更单独事务（3 事务 · 3 语句）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  <a:ea typeface="Microsoft YaHei"/>
              </a:rPr>
              <a:t>批量回滚 · 多选 + 独立回滚切换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27432"/>
          </a:xfrm>
          <a:prstGeom prst="rect">
            <a:avLst/>
          </a:prstGeom>
          <a:solidFill>
            <a:srgbClr val="F0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-multi-sel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852160" cy="4937760"/>
          </a:xfrm>
          <a:prstGeom prst="rect">
            <a:avLst/>
          </a:prstGeom>
        </p:spPr>
      </p:pic>
      <p:pic>
        <p:nvPicPr>
          <p:cNvPr id="6" name="Picture 5" descr="07-multi-roll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71600"/>
            <a:ext cx="493776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09360"/>
            <a:ext cx="5852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  <a:ea typeface="Microsoft YaHei"/>
              </a:rPr>
              <a:t>勾选多条 → 生成回滚脚本 (3)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630936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  <a:ea typeface="Microsoft YaHei"/>
              </a:rPr>
              <a:t>整体事务：1 事务 · 3 语句 · 34 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  <a:ea typeface="Microsoft YaHei"/>
              </a:rPr>
              <a:t>双引擎架构对比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27432"/>
          </a:xfrm>
          <a:prstGeom prst="rect">
            <a:avLst/>
          </a:prstGeom>
          <a:solidFill>
            <a:srgbClr val="F0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303520" cy="6400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Microsoft YaHei"/>
              </a:rPr>
              <a:t>agent-workerman（纯 PHP）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754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  <a:ea typeface="Microsoft YaHei"/>
              </a:rPr>
              <a:t>• Workerman 5 事件驱动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4754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  <a:ea typeface="Microsoft YaHei"/>
              </a:rPr>
              <a:t>• krowinski 子进程解析 binlog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4754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  <a:ea typeface="Microsoft YaHei"/>
              </a:rPr>
              <a:t>• HTTP 模式（fetch POST）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34840"/>
            <a:ext cx="4754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  <a:ea typeface="Microsoft YaHei"/>
              </a:rPr>
              <a:t>• PDO 适配器（修复认证）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54480"/>
            <a:ext cx="5303520" cy="6400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27632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Microsoft YaHei"/>
              </a:rPr>
              <a:t>agent（TypePHP 编译版）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377440"/>
            <a:ext cx="4754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  <a:ea typeface="Microsoft YaHei"/>
              </a:rPr>
              <a:t>• 原生二进制，直接 TCP 流解析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063240"/>
            <a:ext cx="4754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  <a:ea typeface="Microsoft YaHei"/>
              </a:rPr>
              <a:t>• AsyncClient 手写协议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49039"/>
            <a:ext cx="4754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  <a:ea typeface="Microsoft YaHei"/>
              </a:rPr>
              <a:t>• 无子进程 / 无文件轮询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434840"/>
            <a:ext cx="47548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  <a:ea typeface="Microsoft YaHei"/>
              </a:rPr>
              <a:t>• 编译生成 binlog_agent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  <a:ea typeface="Microsoft YaHei"/>
              </a:rPr>
              <a:t>两版可对比速度与解析路径；演示模式数据固定，账号密码任意填即可联调。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  <a:ea typeface="Microsoft YaHei"/>
              </a:rP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600" b="0">
                <a:solidFill>
                  <a:srgbClr val="7AC7E3"/>
                </a:solidFill>
                <a:latin typeface="Calibri"/>
                <a:ea typeface="Microsoft YaHei"/>
              </a:rPr>
              <a:t>BinlogTrace — 让 MySQL 每个变更都有迹可循、可回滚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